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Fira Code" panose="020F0502020204030204" pitchFamily="49" charset="0"/>
      <p:regular r:id="rId13"/>
      <p:bold r:id="rId14"/>
    </p:embeddedFont>
    <p:embeddedFont>
      <p:font typeface="Open Sans" panose="020F0502020204030204" pitchFamily="34" charset="0"/>
      <p:regular r:id="rId15"/>
      <p:bold r:id="rId16"/>
      <p:italic r:id="rId17"/>
      <p:boldItalic r:id="rId18"/>
    </p:embeddedFont>
    <p:embeddedFont>
      <p:font typeface="Open Sans ExtraBold" panose="020F0502020204030204" pitchFamily="34" charset="0"/>
      <p:bold r:id="rId19"/>
      <p:boldItalic r:id="rId20"/>
    </p:embeddedFont>
    <p:embeddedFont>
      <p:font typeface="Poppins" panose="020B0502040204020203" pitchFamily="2" charset="0"/>
      <p:regular r:id="rId21"/>
      <p:bold r:id="rId22"/>
      <p:italic r:id="rId23"/>
      <p:boldItalic r:id="rId24"/>
    </p:embeddedFont>
    <p:embeddedFont>
      <p:font typeface="Poppins ExtraBold" panose="020B0502040204020203" pitchFamily="2" charset="0"/>
      <p:bold r:id="rId25"/>
      <p:boldItalic r:id="rId26"/>
    </p:embeddedFont>
    <p:embeddedFont>
      <p:font typeface="Poppins SemiBold" panose="020B0502040204020203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D33A10-11F9-490D-B820-E4628D2EAE0E}">
  <a:tblStyle styleId="{79D33A10-11F9-490D-B820-E4628D2EAE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28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4355" y="-208713"/>
            <a:ext cx="185740" cy="1857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-34350" y="829715"/>
            <a:ext cx="122607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50" b="0" i="0" u="none" strike="noStrike" cap="none">
                <a:solidFill>
                  <a:srgbClr val="78350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Poodle or </a:t>
            </a:r>
            <a:r>
              <a:rPr lang="en-US" sz="5450">
                <a:solidFill>
                  <a:srgbClr val="78350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Fried Chicken</a:t>
            </a:r>
            <a:r>
              <a:rPr lang="en-US" sz="5450" b="0" i="0" u="none" strike="noStrike" cap="none">
                <a:solidFill>
                  <a:srgbClr val="78350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? 🐩🍗</a:t>
            </a:r>
            <a:endParaRPr sz="700"/>
          </a:p>
        </p:txBody>
      </p:sp>
      <p:sp>
        <p:nvSpPr>
          <p:cNvPr id="86" name="Google Shape;86;p13"/>
          <p:cNvSpPr txBox="1"/>
          <p:nvPr/>
        </p:nvSpPr>
        <p:spPr>
          <a:xfrm>
            <a:off x="1250632" y="1856392"/>
            <a:ext cx="9881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9A3412"/>
                </a:solidFill>
                <a:latin typeface="Poppins"/>
                <a:ea typeface="Poppins"/>
                <a:cs typeface="Poppins"/>
                <a:sym typeface="Poppins"/>
              </a:rPr>
              <a:t>Binary Classification: </a:t>
            </a:r>
            <a:r>
              <a:rPr lang="en-US" sz="2850" b="1">
                <a:solidFill>
                  <a:srgbClr val="9A341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0" b="1" i="0" u="none" strike="noStrike" cap="none">
                <a:solidFill>
                  <a:srgbClr val="9A3412"/>
                </a:solidFill>
                <a:latin typeface="Poppins"/>
                <a:ea typeface="Poppins"/>
                <a:cs typeface="Poppins"/>
                <a:sym typeface="Poppins"/>
              </a:rPr>
              <a:t>Poodle vs. Fried Chicken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295400" y="2637442"/>
            <a:ext cx="960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Deep Learning Exercise 1</a:t>
            </a:r>
            <a:endParaRPr/>
          </a:p>
        </p:txBody>
      </p:sp>
      <p:pic>
        <p:nvPicPr>
          <p:cNvPr id="88" name="Google Shape;88;p13" descr="שהפודל יהיה בצבע של CARAMEL DOODL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800" y="3349200"/>
            <a:ext cx="2834700" cy="283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צור תמונה של אדם מוציא לטיול עם רצועה חתיכת עוף של KFC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7025" y="3349200"/>
            <a:ext cx="2834700" cy="28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0782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66750" y="214758"/>
            <a:ext cx="11525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1. The Problem Definition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476250" y="214758"/>
            <a:ext cx="762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76250" y="1390143"/>
            <a:ext cx="53340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Build a binary classifier to distinguish between Poodle</a:t>
            </a:r>
            <a:r>
              <a:rPr lang="en-US" sz="18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dogs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and Fried Chicken.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6250" y="2418665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this problem?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6275" y="2973020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971115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It's a classic Computer Vision meme/challenge.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" y="3452991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451086"/>
            <a:ext cx="50484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Extreme Visual Similarity: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curly fur of the poodle is texture-identical to the crispy batter of fried chicken.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" y="4664303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662398"/>
            <a:ext cx="50484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Color Overlap: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Both classes share the same golden-brown palette.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6275" y="5509944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508039"/>
            <a:ext cx="50484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It tests the model's ability to learn subtle features (eyes, nose) rather than just texture.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02087"/>
            <a:ext cx="5334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96554"/>
            <a:ext cx="3555950" cy="367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196554"/>
            <a:ext cx="3555950" cy="367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196554"/>
            <a:ext cx="3555950" cy="367456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66750" y="476250"/>
            <a:ext cx="11525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2. Data Collection Process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476250" y="476250"/>
            <a:ext cx="762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97389" y="3482429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Source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4111079"/>
            <a:ext cx="29655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Images collected using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DuckDuckGo Search and Bing </a:t>
            </a:r>
            <a:r>
              <a:rPr lang="en-US" sz="1800" b="1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Search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APIs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via python script.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39090" y="3482429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Cleaning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13225" y="4111079"/>
            <a:ext cx="2965400" cy="740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Used verify_images() to remove corrupt files.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13225" y="5080545"/>
            <a:ext cx="2965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0 Corrupt Images Found!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80790" y="3482429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Size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54925" y="4111079"/>
            <a:ext cx="2965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~300 Images Total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54925" y="4705350"/>
            <a:ext cx="29654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Split: 80% Train / 20% Valid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7450" y="2596604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813" y="2596604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7514" y="2596604"/>
            <a:ext cx="60007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4650103"/>
            <a:ext cx="55245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58007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3. The Pipeline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1724025"/>
            <a:ext cx="5524500" cy="37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leveraged the flexible DataBlock API: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2520225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2518320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Inputs: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ImageBlock, CategoryBlock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3000196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2998291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Splitter: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RandomSplitter (20% validation)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3480167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7250" y="3478262"/>
            <a:ext cx="5238750" cy="375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Labeling: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parent_label (from folder name)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71525" y="3969662"/>
            <a:ext cx="85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57250" y="3967757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Transforms: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Resize to 128px (Squish method)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343650" y="4907278"/>
            <a:ext cx="57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dblock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010650" y="4907278"/>
            <a:ext cx="95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ImageBlock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343650" y="5135878"/>
            <a:ext cx="123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CategoryBlock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820150" y="5135878"/>
            <a:ext cx="142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get_image_files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200900" y="5364478"/>
            <a:ext cx="133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RandomSplitter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82150" y="5364478"/>
            <a:ext cx="28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534650" y="5364478"/>
            <a:ext cx="19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42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915150" y="5593078"/>
            <a:ext cx="114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parent_label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201150" y="5593078"/>
            <a:ext cx="571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0A5FA"/>
                </a:solidFill>
                <a:latin typeface="Fira Code"/>
                <a:ea typeface="Fira Code"/>
                <a:cs typeface="Fira Code"/>
                <a:sym typeface="Fira Code"/>
              </a:rPr>
              <a:t>Resize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867900" y="5593078"/>
            <a:ext cx="28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128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666750" y="116681"/>
            <a:ext cx="11525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4. Model Architecture &amp; Training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476250" y="116681"/>
            <a:ext cx="762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76250" y="1227296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Architecture: ResNet34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76250" y="1855946"/>
            <a:ext cx="53340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used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Transfer Learning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 We took a model pre-trained on ImageNet (which already knows how to "see") and fine-tuned it for our specific binary classification task.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76250" y="3604379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Training Process</a:t>
            </a:r>
            <a:endParaRPr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3078" y="1613535"/>
            <a:ext cx="4071343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76275" y="4158734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62000" y="4156829"/>
            <a:ext cx="50484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LR Finder: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Used to pick the optimal learning rate.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6275" y="5004375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62000" y="5002470"/>
            <a:ext cx="5048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Fine Tuning: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Used fine_tune(4).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6275" y="5493871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5491966"/>
            <a:ext cx="50484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Frozen body for 1 epoch, then unfrozen for 4 epochs.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666750" y="476250"/>
            <a:ext cx="11525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5. Quantitative Results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476250" y="476250"/>
            <a:ext cx="762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600200" y="2222152"/>
            <a:ext cx="8991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model converged rapidly. By the final epoch, we achieved near-perfect accuracy.</a:t>
            </a:r>
            <a:endParaRPr/>
          </a:p>
        </p:txBody>
      </p:sp>
      <p:graphicFrame>
        <p:nvGraphicFramePr>
          <p:cNvPr id="178" name="Google Shape;178;p18"/>
          <p:cNvGraphicFramePr/>
          <p:nvPr/>
        </p:nvGraphicFramePr>
        <p:xfrm>
          <a:off x="1600200" y="2778323"/>
          <a:ext cx="8991625" cy="2181250"/>
        </p:xfrm>
        <a:graphic>
          <a:graphicData uri="http://schemas.openxmlformats.org/drawingml/2006/table">
            <a:tbl>
              <a:tblPr firstRow="1" bandRow="1">
                <a:noFill/>
                <a:tableStyleId>{79D33A10-11F9-490D-B820-E4628D2EAE0E}</a:tableStyleId>
              </a:tblPr>
              <a:tblGrid>
                <a:gridCol w="14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epoch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train_loss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valid_loss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error_rate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0.123849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0.226796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0.064516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0.078574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0.085828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0.016129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0.055405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0.043433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0.016129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0.040465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0.020287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0.016129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9" name="Google Shape;179;p18"/>
          <p:cNvSpPr/>
          <p:nvPr/>
        </p:nvSpPr>
        <p:spPr>
          <a:xfrm>
            <a:off x="1600200" y="3630810"/>
            <a:ext cx="1491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092053" y="363081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591919" y="363081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091785" y="3630810"/>
            <a:ext cx="25000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600200" y="4068960"/>
            <a:ext cx="1491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3092053" y="406896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591919" y="406896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091785" y="4068960"/>
            <a:ext cx="25000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1600200" y="4507110"/>
            <a:ext cx="1491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092053" y="450711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5591919" y="450711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8091785" y="4507110"/>
            <a:ext cx="25000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600200" y="4945260"/>
            <a:ext cx="149185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092053" y="494526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591919" y="4945260"/>
            <a:ext cx="249986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091785" y="4945260"/>
            <a:ext cx="250001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4919648" y="5340550"/>
            <a:ext cx="128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59669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98.4%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4919662" y="5864423"/>
            <a:ext cx="10953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Final Accuracy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396025" y="5340550"/>
            <a:ext cx="109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59669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1.6%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396037" y="5864423"/>
            <a:ext cx="876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Error Rate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/>
        </p:nvSpPr>
        <p:spPr>
          <a:xfrm>
            <a:off x="666750" y="476250"/>
            <a:ext cx="11525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6. Confusion Matrix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476250" y="476250"/>
            <a:ext cx="762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476250" y="2308175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Analysis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476250" y="2936825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Out of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62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validation images: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62000" y="3531096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35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Chickens correctly identified.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62000" y="4011066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Poodles correctly identified.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62000" y="4491037"/>
            <a:ext cx="5048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Only 1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mistake.</a:t>
            </a:r>
            <a:endParaRPr/>
          </a:p>
        </p:txBody>
      </p:sp>
      <p:pic>
        <p:nvPicPr>
          <p:cNvPr id="210" name="Google Shape;21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58824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06821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5481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 rotWithShape="1">
          <a:blip r:embed="rId6">
            <a:alphaModFix/>
          </a:blip>
          <a:srcRect l="4813" r="30927"/>
          <a:stretch/>
        </p:blipFill>
        <p:spPr>
          <a:xfrm>
            <a:off x="6355075" y="863775"/>
            <a:ext cx="5154924" cy="513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083296"/>
            <a:ext cx="5476875" cy="3901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83296"/>
            <a:ext cx="5476875" cy="3901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666750" y="476250"/>
            <a:ext cx="11525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7. Qualitative Analysis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476250" y="487680"/>
            <a:ext cx="762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412004" y="3174421"/>
            <a:ext cx="513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Mistake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534163" y="3803071"/>
            <a:ext cx="48864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single error (Chicken predicted as Poodle) suggests that if a piece of chicken has a shape resembling a silhouette of a dog's head, the model might get confused.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7987" y="2483346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19157" y="248334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514387" y="3094855"/>
            <a:ext cx="5400600" cy="23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29210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B45309"/>
                </a:solidFill>
                <a:highlight>
                  <a:srgbClr val="FFFBEB"/>
                </a:highlight>
                <a:latin typeface="Poppins"/>
                <a:ea typeface="Poppins"/>
                <a:cs typeface="Poppins"/>
                <a:sym typeface="Poppins"/>
              </a:rPr>
              <a:t>Texture &amp; Features</a:t>
            </a:r>
            <a:endParaRPr sz="2100" b="1">
              <a:solidFill>
                <a:srgbClr val="B45309"/>
              </a:solidFill>
              <a:highlight>
                <a:srgbClr val="FFFBEB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292100" marR="292100" lvl="0" indent="0" algn="ctr" rtl="0">
              <a:lnSpc>
                <a:spcPct val="16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>
                <a:solidFill>
                  <a:srgbClr val="334155"/>
                </a:solidFill>
                <a:highlight>
                  <a:srgbClr val="FFFBEB"/>
                </a:highlight>
                <a:latin typeface="Open Sans"/>
                <a:ea typeface="Open Sans"/>
                <a:cs typeface="Open Sans"/>
                <a:sym typeface="Open Sans"/>
              </a:rPr>
              <a:t>Some training images had </a:t>
            </a:r>
            <a:r>
              <a:rPr lang="en-US" sz="1800" b="1">
                <a:solidFill>
                  <a:srgbClr val="334155"/>
                </a:solidFill>
                <a:highlight>
                  <a:srgbClr val="FFFBEB"/>
                </a:highlight>
                <a:latin typeface="Open Sans"/>
                <a:ea typeface="Open Sans"/>
                <a:cs typeface="Open Sans"/>
                <a:sym typeface="Open Sans"/>
              </a:rPr>
              <a:t>no visible faces</a:t>
            </a:r>
            <a:r>
              <a:rPr lang="en-US" sz="1800">
                <a:solidFill>
                  <a:srgbClr val="334155"/>
                </a:solidFill>
                <a:highlight>
                  <a:srgbClr val="FFFBEB"/>
                </a:highlight>
                <a:latin typeface="Open Sans"/>
                <a:ea typeface="Open Sans"/>
                <a:cs typeface="Open Sans"/>
                <a:sym typeface="Open Sans"/>
              </a:rPr>
              <a:t>. The model successfully learned both subtle </a:t>
            </a:r>
            <a:r>
              <a:rPr lang="en-US" sz="1800" b="1">
                <a:solidFill>
                  <a:srgbClr val="334155"/>
                </a:solidFill>
                <a:highlight>
                  <a:srgbClr val="FFFBEB"/>
                </a:highlight>
                <a:latin typeface="Open Sans"/>
                <a:ea typeface="Open Sans"/>
                <a:cs typeface="Open Sans"/>
                <a:sym typeface="Open Sans"/>
              </a:rPr>
              <a:t>texture patterns</a:t>
            </a:r>
            <a:r>
              <a:rPr lang="en-US" sz="1800">
                <a:solidFill>
                  <a:srgbClr val="334155"/>
                </a:solidFill>
                <a:highlight>
                  <a:srgbClr val="FFFBEB"/>
                </a:highlight>
                <a:latin typeface="Open Sans"/>
                <a:ea typeface="Open Sans"/>
                <a:cs typeface="Open Sans"/>
                <a:sym typeface="Open Sans"/>
              </a:rPr>
              <a:t> and distinct features (eyes, nose, tongue).</a:t>
            </a:r>
            <a:endParaRPr sz="1800">
              <a:solidFill>
                <a:srgbClr val="334155"/>
              </a:solidFill>
              <a:highlight>
                <a:srgbClr val="FFFBEB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/>
        </p:nvSpPr>
        <p:spPr>
          <a:xfrm>
            <a:off x="628625" y="476250"/>
            <a:ext cx="5852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92400E"/>
                </a:solidFill>
                <a:latin typeface="Poppins"/>
                <a:ea typeface="Poppins"/>
                <a:cs typeface="Poppins"/>
                <a:sym typeface="Poppins"/>
              </a:rPr>
              <a:t>8. Challenges</a:t>
            </a:r>
            <a:endParaRPr sz="3600" dirty="0"/>
          </a:p>
        </p:txBody>
      </p:sp>
      <p:sp>
        <p:nvSpPr>
          <p:cNvPr id="233" name="Google Shape;233;p21"/>
          <p:cNvSpPr txBox="1"/>
          <p:nvPr/>
        </p:nvSpPr>
        <p:spPr>
          <a:xfrm>
            <a:off x="542890" y="1491108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28615" y="1489203"/>
            <a:ext cx="52389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Data Quality:</a:t>
            </a:r>
            <a:r>
              <a:rPr lang="en-US" sz="17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Search results often contain cartoons, memes (like the one in Slide 2), or text overlays which can confuse the model.</a:t>
            </a:r>
            <a:endParaRPr sz="1300"/>
          </a:p>
        </p:txBody>
      </p:sp>
      <p:sp>
        <p:nvSpPr>
          <p:cNvPr id="235" name="Google Shape;235;p21"/>
          <p:cNvSpPr txBox="1"/>
          <p:nvPr/>
        </p:nvSpPr>
        <p:spPr>
          <a:xfrm>
            <a:off x="542890" y="2851011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28615" y="2849106"/>
            <a:ext cx="52389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Overfitting Risk: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With a small dataset (~300 images), the model can easily memorize the training data. We used data augmentation to mitigate this.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42890" y="4718798"/>
            <a:ext cx="8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28615" y="4716893"/>
            <a:ext cx="52389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Class Imbalance: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We had to ensure we downloaded roughly equal numbers of images for both categories.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468630" y="468630"/>
            <a:ext cx="762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2105054"/>
            <a:ext cx="2349549" cy="2445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1299" y="2105054"/>
            <a:ext cx="2349549" cy="2445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6599" y="2105054"/>
            <a:ext cx="2349549" cy="244584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2095500" y="729704"/>
            <a:ext cx="8001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78350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Conclusion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2286000" y="5122396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9A3412"/>
                </a:solidFill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2537300" y="2667029"/>
            <a:ext cx="1846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5F4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2581275" y="3295679"/>
            <a:ext cx="17589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Automated &amp; Cleaned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5172599" y="2667029"/>
            <a:ext cx="1846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5F4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Accuracy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5216574" y="3295679"/>
            <a:ext cx="17589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98.4% (ResNet34)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807899" y="2667029"/>
            <a:ext cx="1846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5F4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Status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851874" y="3295679"/>
            <a:ext cx="17589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Ready for Inference</a:t>
            </a:r>
            <a:endParaRPr/>
          </a:p>
        </p:txBody>
      </p:sp>
      <p:pic>
        <p:nvPicPr>
          <p:cNvPr id="255" name="Google Shape;25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79687" y="272417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91137" y="272417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40749" y="2724179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מסך רחב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9" baseType="lpstr">
      <vt:lpstr>Calibri</vt:lpstr>
      <vt:lpstr>Poppins SemiBold</vt:lpstr>
      <vt:lpstr>Arial</vt:lpstr>
      <vt:lpstr>Fira Code</vt:lpstr>
      <vt:lpstr>Poppins ExtraBold</vt:lpstr>
      <vt:lpstr>Poppins</vt:lpstr>
      <vt:lpstr>Open Sans</vt:lpstr>
      <vt:lpstr>Open Sans ExtraBold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Nadav Masliah</cp:lastModifiedBy>
  <cp:revision>1</cp:revision>
  <dcterms:modified xsi:type="dcterms:W3CDTF">2025-12-15T17:14:42Z</dcterms:modified>
</cp:coreProperties>
</file>